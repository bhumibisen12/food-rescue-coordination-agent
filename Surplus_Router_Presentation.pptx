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ood_rescue_intro_1792053223855.jpg"/>
          <p:cNvPicPr>
            <a:picLocks noChangeAspect="1"/>
          </p:cNvPicPr>
          <p:nvPr/>
        </p:nvPicPr>
        <p:blipFill>
          <a:blip r:embed="rId2"/>
          <a:stretch>
            <a:fillRect/>
          </a:stretch>
        </p:blipFill>
        <p:spPr>
          <a:xfrm>
            <a:off x="5486400" y="914400"/>
            <a:ext cx="6217920" cy="5029200"/>
          </a:xfrm>
          <a:prstGeom prst="rect">
            <a:avLst/>
          </a:prstGeom>
        </p:spPr>
      </p:pic>
      <p:sp>
        <p:nvSpPr>
          <p:cNvPr id="4" name="TextBox 3"/>
          <p:cNvSpPr txBox="1"/>
          <p:nvPr/>
        </p:nvSpPr>
        <p:spPr>
          <a:xfrm>
            <a:off x="731520" y="914400"/>
            <a:ext cx="4572000" cy="5029200"/>
          </a:xfrm>
          <a:prstGeom prst="rect">
            <a:avLst/>
          </a:prstGeom>
          <a:noFill/>
        </p:spPr>
        <p:txBody>
          <a:bodyPr wrap="square">
            <a:spAutoFit/>
          </a:bodyPr>
          <a:lstStyle/>
          <a:p>
            <a:pPr>
              <a:defRPr sz="1100" b="1">
                <a:solidFill>
                  <a:srgbClr val="0EA5E9"/>
                </a:solidFill>
                <a:latin typeface="Segoe UI"/>
              </a:defRPr>
            </a:pPr>
            <a:r>
              <a:t>🌱 AUTONOMOUS COMMUNITY RESCUE AGENT</a:t>
            </a:r>
          </a:p>
          <a:p>
            <a:pPr>
              <a:spcBef>
                <a:spcPts val="600"/>
              </a:spcBef>
              <a:defRPr sz="4000" b="1">
                <a:solidFill>
                  <a:srgbClr val="1E3A8A"/>
                </a:solidFill>
                <a:latin typeface="Segoe UI"/>
              </a:defRPr>
            </a:pPr>
            <a:r>
              <a:t>FoodLink Agent</a:t>
            </a:r>
          </a:p>
          <a:p>
            <a:pPr>
              <a:spcBef>
                <a:spcPts val="400"/>
              </a:spcBef>
              <a:defRPr sz="1350">
                <a:solidFill>
                  <a:srgbClr val="64748B"/>
                </a:solidFill>
                <a:latin typeface="Segoe UI"/>
              </a:defRPr>
            </a:pPr>
            <a:r>
              <a:t>Autonomous AI AgentCore for Zero-Waste Community Food Rescue</a:t>
            </a:r>
          </a:p>
          <a:p>
            <a:br/>
            <a:pPr>
              <a:spcBef>
                <a:spcPts val="1200"/>
              </a:spcBef>
              <a:defRPr sz="1000" b="1">
                <a:solidFill>
                  <a:srgbClr val="0EA5E9"/>
                </a:solidFill>
                <a:latin typeface="Segoe UI"/>
              </a:defRPr>
            </a:pPr>
            <a:r>
              <a:t>PRESENTER INTRODUCTION</a:t>
            </a:r>
          </a:p>
          <a:p>
            <a:pPr>
              <a:spcBef>
                <a:spcPts val="200"/>
              </a:spcBef>
              <a:defRPr sz="2200" b="1">
                <a:solidFill>
                  <a:srgbClr val="1E3A8A"/>
                </a:solidFill>
                <a:latin typeface="Segoe UI"/>
              </a:defRPr>
            </a:pPr>
            <a:r>
              <a:t>Bhumeshwari Bisen</a:t>
            </a:r>
          </a:p>
          <a:p>
            <a:pPr>
              <a:spcBef>
                <a:spcPts val="200"/>
              </a:spcBef>
              <a:defRPr sz="1300" b="1">
                <a:solidFill>
                  <a:srgbClr val="0EA5E9"/>
                </a:solidFill>
                <a:latin typeface="Segoe UI"/>
              </a:defRPr>
            </a:pPr>
            <a:r>
              <a:t>Machine Learning &amp; Applied AI Intern</a:t>
            </a:r>
          </a:p>
          <a:p>
            <a:pPr>
              <a:spcBef>
                <a:spcPts val="400"/>
              </a:spcBef>
              <a:defRPr sz="1100">
                <a:solidFill>
                  <a:srgbClr val="0F172A"/>
                </a:solidFill>
                <a:latin typeface="Segoe UI"/>
              </a:defRPr>
            </a:pPr>
            <a:r>
              <a:t>Indore Institute of Science &amp; Technology (IIST)</a:t>
            </a:r>
            <a:br/>
            <a:r>
              <a:t>Department of Computer Science &amp; Engineering</a:t>
            </a:r>
          </a:p>
          <a:p>
            <a:pPr>
              <a:spcBef>
                <a:spcPts val="600"/>
              </a:spcBef>
              <a:defRPr sz="950">
                <a:solidFill>
                  <a:srgbClr val="64748B"/>
                </a:solidFill>
                <a:latin typeface="Segoe UI"/>
              </a:defRPr>
            </a:pPr>
            <a:r>
              <a:t>Focus: Multi-Factor AI Dispatch, Arrhenius Shelf-Life Modeling &amp; Vehicle Routing.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686800" y="5303520"/>
            <a:ext cx="4114800" cy="201168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229600" cy="1005840"/>
          </a:xfrm>
          <a:prstGeom prst="rect">
            <a:avLst/>
          </a:prstGeom>
          <a:noFill/>
        </p:spPr>
        <p:txBody>
          <a:bodyPr wrap="square" lIns="0" tIns="0" rIns="0" bIns="0">
            <a:spAutoFit/>
          </a:bodyPr>
          <a:lstStyle/>
          <a:p>
            <a:pPr>
              <a:defRPr sz="2600" b="1">
                <a:solidFill>
                  <a:srgbClr val="1E3A8A"/>
                </a:solidFill>
                <a:latin typeface="Segoe UI"/>
              </a:defRPr>
            </a:pPr>
            <a:r>
              <a:t>The Shift to AI in Food Recovery</a:t>
            </a:r>
          </a:p>
          <a:p>
            <a:pPr>
              <a:spcBef>
                <a:spcPts val="300"/>
              </a:spcBef>
              <a:defRPr sz="1300">
                <a:solidFill>
                  <a:srgbClr val="0EA5E9"/>
                </a:solidFill>
                <a:latin typeface="Segoe UI"/>
              </a:defRPr>
            </a:pPr>
            <a:r>
              <a:t>Why autonomous coordination is critical for urban hunger relief</a:t>
            </a:r>
          </a:p>
        </p:txBody>
      </p:sp>
      <p:sp>
        <p:nvSpPr>
          <p:cNvPr id="5" name="TextBox 4"/>
          <p:cNvSpPr txBox="1"/>
          <p:nvPr/>
        </p:nvSpPr>
        <p:spPr>
          <a:xfrm>
            <a:off x="731520" y="1645920"/>
            <a:ext cx="5669280" cy="914400"/>
          </a:xfrm>
          <a:prstGeom prst="rect">
            <a:avLst/>
          </a:prstGeom>
          <a:noFill/>
        </p:spPr>
        <p:txBody>
          <a:bodyPr wrap="square">
            <a:spAutoFit/>
          </a:bodyPr>
          <a:lstStyle/>
          <a:p>
            <a:pPr>
              <a:defRPr sz="1300" b="1">
                <a:solidFill>
                  <a:srgbClr val="1E3A8A"/>
                </a:solidFill>
                <a:latin typeface="Segoe UI"/>
              </a:defRPr>
            </a:pPr>
            <a:r>
              <a:t>The Food Waste Crisis &amp; Coordination Bottlenecks</a:t>
            </a:r>
          </a:p>
          <a:p>
            <a:pPr>
              <a:spcBef>
                <a:spcPts val="400"/>
              </a:spcBef>
              <a:defRPr sz="1000">
                <a:solidFill>
                  <a:srgbClr val="64748B"/>
                </a:solidFill>
                <a:latin typeface="Segoe UI"/>
              </a:defRPr>
            </a:pPr>
            <a:r>
              <a:t>Over 40% of commercially prepared food in urban centres like Indore is dumped into landfills while local shelters face daily shortages. Traditional food rescue relies on slow manual calls, chaotic WhatsApp groups, and static spreadsheets.</a:t>
            </a:r>
          </a:p>
        </p:txBody>
      </p:sp>
      <p:sp>
        <p:nvSpPr>
          <p:cNvPr id="6" name="Oval 5"/>
          <p:cNvSpPr/>
          <p:nvPr/>
        </p:nvSpPr>
        <p:spPr>
          <a:xfrm>
            <a:off x="731520" y="2880360"/>
            <a:ext cx="475488" cy="475488"/>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01</a:t>
            </a:r>
          </a:p>
        </p:txBody>
      </p:sp>
      <p:sp>
        <p:nvSpPr>
          <p:cNvPr id="7" name="TextBox 6"/>
          <p:cNvSpPr txBox="1"/>
          <p:nvPr/>
        </p:nvSpPr>
        <p:spPr>
          <a:xfrm>
            <a:off x="1353312" y="2834640"/>
            <a:ext cx="5029200" cy="731520"/>
          </a:xfrm>
          <a:prstGeom prst="rect">
            <a:avLst/>
          </a:prstGeom>
          <a:noFill/>
        </p:spPr>
        <p:txBody>
          <a:bodyPr wrap="square">
            <a:spAutoFit/>
          </a:bodyPr>
          <a:lstStyle/>
          <a:p>
            <a:pPr>
              <a:defRPr sz="1100" b="1">
                <a:solidFill>
                  <a:srgbClr val="1E3A8A"/>
                </a:solidFill>
                <a:latin typeface="Segoe UI"/>
              </a:defRPr>
            </a:pPr>
            <a:r>
              <a:t>Perishable Danger Zone (&lt;3h Spoilage)</a:t>
            </a:r>
          </a:p>
          <a:p>
            <a:pPr>
              <a:defRPr sz="919">
                <a:solidFill>
                  <a:srgbClr val="64748B"/>
                </a:solidFill>
                <a:latin typeface="Segoe UI"/>
              </a:defRPr>
            </a:pPr>
            <a:r>
              <a:t>Cooked meals enter rapid bacterial growth between 5°C-60°C; minutes decide whether food feeds a family or rots.</a:t>
            </a:r>
          </a:p>
        </p:txBody>
      </p:sp>
      <p:sp>
        <p:nvSpPr>
          <p:cNvPr id="8" name="Oval 7"/>
          <p:cNvSpPr/>
          <p:nvPr/>
        </p:nvSpPr>
        <p:spPr>
          <a:xfrm>
            <a:off x="731520" y="3749039"/>
            <a:ext cx="475488" cy="475488"/>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02</a:t>
            </a:r>
          </a:p>
        </p:txBody>
      </p:sp>
      <p:sp>
        <p:nvSpPr>
          <p:cNvPr id="9" name="TextBox 8"/>
          <p:cNvSpPr txBox="1"/>
          <p:nvPr/>
        </p:nvSpPr>
        <p:spPr>
          <a:xfrm>
            <a:off x="1353312" y="3703320"/>
            <a:ext cx="5029200" cy="731520"/>
          </a:xfrm>
          <a:prstGeom prst="rect">
            <a:avLst/>
          </a:prstGeom>
          <a:noFill/>
        </p:spPr>
        <p:txBody>
          <a:bodyPr wrap="square">
            <a:spAutoFit/>
          </a:bodyPr>
          <a:lstStyle/>
          <a:p>
            <a:pPr>
              <a:defRPr sz="1100" b="1">
                <a:solidFill>
                  <a:srgbClr val="1E3A8A"/>
                </a:solidFill>
                <a:latin typeface="Segoe UI"/>
              </a:defRPr>
            </a:pPr>
            <a:r>
              <a:t>Coordinator Burnout &amp; Delays</a:t>
            </a:r>
          </a:p>
          <a:p>
            <a:pPr>
              <a:defRPr sz="919">
                <a:solidFill>
                  <a:srgbClr val="64748B"/>
                </a:solidFill>
                <a:latin typeface="Segoe UI"/>
              </a:defRPr>
            </a:pPr>
            <a:r>
              <a:t>Non-profit teams spend 3-5 hours daily chasing phone calls and manually verifying shelter intake capacity.</a:t>
            </a:r>
          </a:p>
        </p:txBody>
      </p:sp>
      <p:sp>
        <p:nvSpPr>
          <p:cNvPr id="10" name="Oval 9"/>
          <p:cNvSpPr/>
          <p:nvPr/>
        </p:nvSpPr>
        <p:spPr>
          <a:xfrm>
            <a:off x="731520" y="4617720"/>
            <a:ext cx="475488" cy="475488"/>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03</a:t>
            </a:r>
          </a:p>
        </p:txBody>
      </p:sp>
      <p:sp>
        <p:nvSpPr>
          <p:cNvPr id="11" name="TextBox 10"/>
          <p:cNvSpPr txBox="1"/>
          <p:nvPr/>
        </p:nvSpPr>
        <p:spPr>
          <a:xfrm>
            <a:off x="1353312" y="4572000"/>
            <a:ext cx="5029200" cy="731520"/>
          </a:xfrm>
          <a:prstGeom prst="rect">
            <a:avLst/>
          </a:prstGeom>
          <a:noFill/>
        </p:spPr>
        <p:txBody>
          <a:bodyPr wrap="square">
            <a:spAutoFit/>
          </a:bodyPr>
          <a:lstStyle/>
          <a:p>
            <a:pPr>
              <a:defRPr sz="1100" b="1">
                <a:solidFill>
                  <a:srgbClr val="1E3A8A"/>
                </a:solidFill>
                <a:latin typeface="Segoe UI"/>
              </a:defRPr>
            </a:pPr>
            <a:r>
              <a:t>Double Allocation &amp; Conflict Risks</a:t>
            </a:r>
          </a:p>
          <a:p>
            <a:pPr>
              <a:defRPr sz="919">
                <a:solidFill>
                  <a:srgbClr val="64748B"/>
                </a:solidFill>
                <a:latin typeface="Segoe UI"/>
              </a:defRPr>
            </a:pPr>
            <a:r>
              <a:t>Without atomic database locks, multiple shelters claim the same batch, stranding volunteer drivers.</a:t>
            </a:r>
          </a:p>
        </p:txBody>
      </p:sp>
      <p:sp>
        <p:nvSpPr>
          <p:cNvPr id="12" name="Oval 11"/>
          <p:cNvSpPr/>
          <p:nvPr/>
        </p:nvSpPr>
        <p:spPr>
          <a:xfrm>
            <a:off x="731520" y="5486400"/>
            <a:ext cx="475488" cy="475488"/>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04</a:t>
            </a:r>
          </a:p>
        </p:txBody>
      </p:sp>
      <p:sp>
        <p:nvSpPr>
          <p:cNvPr id="13" name="TextBox 12"/>
          <p:cNvSpPr txBox="1"/>
          <p:nvPr/>
        </p:nvSpPr>
        <p:spPr>
          <a:xfrm>
            <a:off x="1353312" y="5440680"/>
            <a:ext cx="5029200" cy="731520"/>
          </a:xfrm>
          <a:prstGeom prst="rect">
            <a:avLst/>
          </a:prstGeom>
          <a:noFill/>
        </p:spPr>
        <p:txBody>
          <a:bodyPr wrap="square">
            <a:spAutoFit/>
          </a:bodyPr>
          <a:lstStyle/>
          <a:p>
            <a:pPr>
              <a:defRPr sz="1100" b="1">
                <a:solidFill>
                  <a:srgbClr val="1E3A8A"/>
                </a:solidFill>
                <a:latin typeface="Segoe UI"/>
              </a:defRPr>
            </a:pPr>
            <a:r>
              <a:t>Zero Advance Intake Notice</a:t>
            </a:r>
          </a:p>
          <a:p>
            <a:pPr>
              <a:defRPr sz="919">
                <a:solidFill>
                  <a:srgbClr val="64748B"/>
                </a:solidFill>
                <a:latin typeface="Segoe UI"/>
              </a:defRPr>
            </a:pPr>
            <a:r>
              <a:t>Shelters get surprise drop-ins late at night with zero advance preparation or dietary compatibility checking.</a:t>
            </a:r>
          </a:p>
        </p:txBody>
      </p:sp>
      <p:sp>
        <p:nvSpPr>
          <p:cNvPr id="14" name="Rounded Rectangle 13"/>
          <p:cNvSpPr/>
          <p:nvPr/>
        </p:nvSpPr>
        <p:spPr>
          <a:xfrm>
            <a:off x="6766560" y="1645920"/>
            <a:ext cx="4663440" cy="4480560"/>
          </a:xfrm>
          <a:prstGeom prst="roundRect">
            <a:avLst/>
          </a:prstGeom>
          <a:solidFill>
            <a:srgbClr val="E0F2FE"/>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0" y="1920240"/>
            <a:ext cx="4114800" cy="3931920"/>
          </a:xfrm>
          <a:prstGeom prst="rect">
            <a:avLst/>
          </a:prstGeom>
          <a:noFill/>
        </p:spPr>
        <p:txBody>
          <a:bodyPr wrap="square">
            <a:spAutoFit/>
          </a:bodyPr>
          <a:lstStyle/>
          <a:p>
            <a:pPr>
              <a:defRPr sz="1100" b="1">
                <a:solidFill>
                  <a:srgbClr val="0EA5E9"/>
                </a:solidFill>
                <a:latin typeface="Segoe UI"/>
              </a:defRPr>
            </a:pPr>
            <a:r>
              <a:t>THE ZERO-WASTE IMPERATIVE</a:t>
            </a:r>
          </a:p>
          <a:p>
            <a:pPr>
              <a:spcBef>
                <a:spcPts val="800"/>
              </a:spcBef>
              <a:defRPr sz="1800" b="1">
                <a:solidFill>
                  <a:srgbClr val="1E3A8A"/>
                </a:solidFill>
                <a:latin typeface="Segoe UI"/>
              </a:defRPr>
            </a:pPr>
            <a:r>
              <a:t>Every 1 kg of Rescued Food Provides 2 Wholesome Meals</a:t>
            </a:r>
          </a:p>
          <a:p>
            <a:pPr>
              <a:spcBef>
                <a:spcPts val="800"/>
              </a:spcBef>
              <a:defRPr sz="1050">
                <a:solidFill>
                  <a:srgbClr val="0F172A"/>
                </a:solidFill>
                <a:latin typeface="Segoe UI"/>
              </a:defRPr>
            </a:pPr>
            <a:r>
              <a:t>• Landfill Methane Reduction: 1.9 kg CO2e prevented per 1 kg food rescued.</a:t>
            </a:r>
          </a:p>
          <a:p>
            <a:pPr>
              <a:spcBef>
                <a:spcPts val="800"/>
              </a:spcBef>
              <a:defRPr sz="1050">
                <a:solidFill>
                  <a:srgbClr val="0F172A"/>
                </a:solidFill>
                <a:latin typeface="Segoe UI"/>
              </a:defRPr>
            </a:pPr>
            <a:r>
              <a:t>• Community Dignity: Direct routing to verified elderly homes, orphanages, and rain baseras.</a:t>
            </a:r>
          </a:p>
          <a:p>
            <a:pPr>
              <a:spcBef>
                <a:spcPts val="800"/>
              </a:spcBef>
              <a:defRPr sz="1050">
                <a:solidFill>
                  <a:srgbClr val="0F172A"/>
                </a:solidFill>
                <a:latin typeface="Segoe UI"/>
              </a:defRPr>
            </a:pPr>
            <a:r>
              <a:t>• Pure Open Source: Powered by AWS Bedrock AgentCore and DynamoDB ACID transactions.</a:t>
            </a:r>
          </a:p>
          <a:p>
            <a:pPr>
              <a:spcBef>
                <a:spcPts val="800"/>
              </a:spcBef>
              <a:defRPr sz="1050">
                <a:solidFill>
                  <a:srgbClr val="0F172A"/>
                </a:solidFill>
                <a:latin typeface="Segoe UI"/>
              </a:defRPr>
            </a:pPr>
            <a:r>
              <a:t>• Rapid Coordination: Eliminates food spoilage risk before cooked meals degrade.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686800" y="5303520"/>
            <a:ext cx="4114800" cy="201168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229600" cy="1005840"/>
          </a:xfrm>
          <a:prstGeom prst="rect">
            <a:avLst/>
          </a:prstGeom>
          <a:noFill/>
        </p:spPr>
        <p:txBody>
          <a:bodyPr wrap="square" lIns="0" tIns="0" rIns="0" bIns="0">
            <a:spAutoFit/>
          </a:bodyPr>
          <a:lstStyle/>
          <a:p>
            <a:pPr>
              <a:defRPr sz="2600" b="1">
                <a:solidFill>
                  <a:srgbClr val="1E3A8A"/>
                </a:solidFill>
                <a:latin typeface="Segoe UI"/>
              </a:defRPr>
            </a:pPr>
            <a:r>
              <a:t>AI for Donor &amp; Partner Service</a:t>
            </a:r>
          </a:p>
          <a:p>
            <a:pPr>
              <a:spcBef>
                <a:spcPts val="300"/>
              </a:spcBef>
              <a:defRPr sz="1300">
                <a:solidFill>
                  <a:srgbClr val="0EA5E9"/>
                </a:solidFill>
                <a:latin typeface="Segoe UI"/>
              </a:defRPr>
            </a:pPr>
            <a:r>
              <a:t>Zero-friction reporting portal with cryptographic capability tokens</a:t>
            </a:r>
          </a:p>
        </p:txBody>
      </p:sp>
      <p:sp>
        <p:nvSpPr>
          <p:cNvPr id="5" name="Rounded Rectangle 4"/>
          <p:cNvSpPr/>
          <p:nvPr/>
        </p:nvSpPr>
        <p:spPr>
          <a:xfrm>
            <a:off x="731520" y="1645920"/>
            <a:ext cx="4754880" cy="4480560"/>
          </a:xfrm>
          <a:prstGeom prst="roundRect">
            <a:avLst/>
          </a:prstGeom>
          <a:solidFill>
            <a:srgbClr val="E0F2FE"/>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206240" cy="3931920"/>
          </a:xfrm>
          <a:prstGeom prst="rect">
            <a:avLst/>
          </a:prstGeom>
          <a:noFill/>
        </p:spPr>
        <p:txBody>
          <a:bodyPr wrap="square">
            <a:spAutoFit/>
          </a:bodyPr>
          <a:lstStyle/>
          <a:p>
            <a:pPr>
              <a:defRPr sz="1600" b="1">
                <a:solidFill>
                  <a:srgbClr val="1E3A8A"/>
                </a:solidFill>
                <a:latin typeface="Segoe UI"/>
              </a:defRPr>
            </a:pPr>
            <a:r>
              <a:t>⚡ 30-Second Donor Intake</a:t>
            </a:r>
          </a:p>
          <a:p>
            <a:br/>
            <a:pPr>
              <a:spcBef>
                <a:spcPts val="600"/>
              </a:spcBef>
              <a:defRPr sz="1150">
                <a:solidFill>
                  <a:srgbClr val="0F172A"/>
                </a:solidFill>
                <a:latin typeface="Segoe UI"/>
              </a:defRPr>
            </a:pPr>
            <a:r>
              <a:t>• Zero Password/Login Barriers</a:t>
            </a:r>
            <a:br/>
            <a:r>
              <a:t>• Dynamic AI Shelf-Life Calculator</a:t>
            </a:r>
            <a:br/>
            <a:r>
              <a:t>• Auto Geolocation &amp; Ward Tagging</a:t>
            </a:r>
            <a:br/>
            <a:r>
              <a:t>• Real-Time Cryptographic Token</a:t>
            </a:r>
            <a:br/>
            <a:r>
              <a:t>• Automated Tax &amp; CSR Proof Receipts</a:t>
            </a:r>
            <a:br/>
            <a:r>
              <a:t>• Multi-Lingual English &amp; Hindi Support</a:t>
            </a:r>
          </a:p>
        </p:txBody>
      </p:sp>
      <p:sp>
        <p:nvSpPr>
          <p:cNvPr id="7" name="TextBox 6"/>
          <p:cNvSpPr txBox="1"/>
          <p:nvPr/>
        </p:nvSpPr>
        <p:spPr>
          <a:xfrm>
            <a:off x="5852160" y="1645920"/>
            <a:ext cx="5577840" cy="1097280"/>
          </a:xfrm>
          <a:prstGeom prst="rect">
            <a:avLst/>
          </a:prstGeom>
          <a:noFill/>
        </p:spPr>
        <p:txBody>
          <a:bodyPr wrap="square">
            <a:spAutoFit/>
          </a:bodyPr>
          <a:lstStyle/>
          <a:p>
            <a:pPr>
              <a:defRPr sz="1300" b="1">
                <a:solidFill>
                  <a:srgbClr val="1E3A8A"/>
                </a:solidFill>
                <a:latin typeface="Segoe UI"/>
              </a:defRPr>
            </a:pPr>
            <a:r>
              <a:t>Eliminating Friction at the Point of Surplus</a:t>
            </a:r>
          </a:p>
          <a:p>
            <a:pPr>
              <a:spcBef>
                <a:spcPts val="300"/>
              </a:spcBef>
              <a:defRPr sz="1000">
                <a:solidFill>
                  <a:srgbClr val="64748B"/>
                </a:solidFill>
                <a:latin typeface="Segoe UI"/>
              </a:defRPr>
            </a:pPr>
            <a:r>
              <a:t>Busy chefs and banquet managers trash edible food because existing recovery apps require tedious account signups. FoodLink Agent issues cryptographic 256-bit tracking secrets for instant, passwordless coordination.</a:t>
            </a:r>
          </a:p>
        </p:txBody>
      </p:sp>
      <p:sp>
        <p:nvSpPr>
          <p:cNvPr id="8" name="Oval 7"/>
          <p:cNvSpPr/>
          <p:nvPr/>
        </p:nvSpPr>
        <p:spPr>
          <a:xfrm>
            <a:off x="5852160" y="3017520"/>
            <a:ext cx="475488" cy="475488"/>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01</a:t>
            </a:r>
          </a:p>
        </p:txBody>
      </p:sp>
      <p:sp>
        <p:nvSpPr>
          <p:cNvPr id="9" name="TextBox 8"/>
          <p:cNvSpPr txBox="1"/>
          <p:nvPr/>
        </p:nvSpPr>
        <p:spPr>
          <a:xfrm>
            <a:off x="6492240" y="2971800"/>
            <a:ext cx="4937760" cy="777240"/>
          </a:xfrm>
          <a:prstGeom prst="rect">
            <a:avLst/>
          </a:prstGeom>
          <a:noFill/>
        </p:spPr>
        <p:txBody>
          <a:bodyPr wrap="square">
            <a:spAutoFit/>
          </a:bodyPr>
          <a:lstStyle/>
          <a:p>
            <a:pPr>
              <a:defRPr sz="1150" b="1">
                <a:solidFill>
                  <a:srgbClr val="1E3A8A"/>
                </a:solidFill>
                <a:latin typeface="Segoe UI"/>
              </a:defRPr>
            </a:pPr>
            <a:r>
              <a:t>30-Second Rapid Web Intake</a:t>
            </a:r>
          </a:p>
          <a:p>
            <a:pPr>
              <a:defRPr sz="919">
                <a:solidFill>
                  <a:srgbClr val="64748B"/>
                </a:solidFill>
                <a:latin typeface="Segoe UI"/>
              </a:defRPr>
            </a:pPr>
            <a:r>
              <a:t>Donors submit food category, estimated quantity, and pickup address in 3 clicks with automated coordinate resolution.</a:t>
            </a:r>
          </a:p>
        </p:txBody>
      </p:sp>
      <p:sp>
        <p:nvSpPr>
          <p:cNvPr id="10" name="Oval 9"/>
          <p:cNvSpPr/>
          <p:nvPr/>
        </p:nvSpPr>
        <p:spPr>
          <a:xfrm>
            <a:off x="5852160" y="4069079"/>
            <a:ext cx="475488" cy="475488"/>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02</a:t>
            </a:r>
          </a:p>
        </p:txBody>
      </p:sp>
      <p:sp>
        <p:nvSpPr>
          <p:cNvPr id="11" name="TextBox 10"/>
          <p:cNvSpPr txBox="1"/>
          <p:nvPr/>
        </p:nvSpPr>
        <p:spPr>
          <a:xfrm>
            <a:off x="6492240" y="4023359"/>
            <a:ext cx="4937760" cy="777240"/>
          </a:xfrm>
          <a:prstGeom prst="rect">
            <a:avLst/>
          </a:prstGeom>
          <a:noFill/>
        </p:spPr>
        <p:txBody>
          <a:bodyPr wrap="square">
            <a:spAutoFit/>
          </a:bodyPr>
          <a:lstStyle/>
          <a:p>
            <a:pPr>
              <a:defRPr sz="1150" b="1">
                <a:solidFill>
                  <a:srgbClr val="1E3A8A"/>
                </a:solidFill>
                <a:latin typeface="Segoe UI"/>
              </a:defRPr>
            </a:pPr>
            <a:r>
              <a:t>Built-In AI Shelf-Life Estimator</a:t>
            </a:r>
          </a:p>
          <a:p>
            <a:pPr>
              <a:defRPr sz="919">
                <a:solidFill>
                  <a:srgbClr val="64748B"/>
                </a:solidFill>
                <a:latin typeface="Segoe UI"/>
              </a:defRPr>
            </a:pPr>
            <a:r>
              <a:t>Scientific rule engine computes exact safe window based on temperature (hot/refrigerated) and packaging.</a:t>
            </a:r>
          </a:p>
        </p:txBody>
      </p:sp>
      <p:sp>
        <p:nvSpPr>
          <p:cNvPr id="12" name="Oval 11"/>
          <p:cNvSpPr/>
          <p:nvPr/>
        </p:nvSpPr>
        <p:spPr>
          <a:xfrm>
            <a:off x="5852160" y="5120640"/>
            <a:ext cx="475488" cy="475488"/>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03</a:t>
            </a:r>
          </a:p>
        </p:txBody>
      </p:sp>
      <p:sp>
        <p:nvSpPr>
          <p:cNvPr id="13" name="TextBox 12"/>
          <p:cNvSpPr txBox="1"/>
          <p:nvPr/>
        </p:nvSpPr>
        <p:spPr>
          <a:xfrm>
            <a:off x="6492240" y="5074920"/>
            <a:ext cx="4937760" cy="777240"/>
          </a:xfrm>
          <a:prstGeom prst="rect">
            <a:avLst/>
          </a:prstGeom>
          <a:noFill/>
        </p:spPr>
        <p:txBody>
          <a:bodyPr wrap="square">
            <a:spAutoFit/>
          </a:bodyPr>
          <a:lstStyle/>
          <a:p>
            <a:pPr>
              <a:defRPr sz="1150" b="1">
                <a:solidFill>
                  <a:srgbClr val="1E3A8A"/>
                </a:solidFill>
                <a:latin typeface="Segoe UI"/>
              </a:defRPr>
            </a:pPr>
            <a:r>
              <a:t>Zero-IDOR Capability Secrets</a:t>
            </a:r>
          </a:p>
          <a:p>
            <a:pPr>
              <a:defRPr sz="919">
                <a:solidFill>
                  <a:srgbClr val="64748B"/>
                </a:solidFill>
                <a:latin typeface="Segoe UI"/>
              </a:defRPr>
            </a:pPr>
            <a:r>
              <a:t>Salted SHA-256 tokens mask donor phone numbers, prevents unauthorized lookups, and secures identity.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686800" y="5303520"/>
            <a:ext cx="4114800" cy="201168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229600" cy="1005840"/>
          </a:xfrm>
          <a:prstGeom prst="rect">
            <a:avLst/>
          </a:prstGeom>
          <a:noFill/>
        </p:spPr>
        <p:txBody>
          <a:bodyPr wrap="square" lIns="0" tIns="0" rIns="0" bIns="0">
            <a:spAutoFit/>
          </a:bodyPr>
          <a:lstStyle/>
          <a:p>
            <a:pPr>
              <a:defRPr sz="2600" b="1">
                <a:solidFill>
                  <a:srgbClr val="1E3A8A"/>
                </a:solidFill>
                <a:latin typeface="Segoe UI"/>
              </a:defRPr>
            </a:pPr>
            <a:r>
              <a:t>AI in Rescue Logistics &amp; Fleet Routing</a:t>
            </a:r>
          </a:p>
          <a:p>
            <a:pPr>
              <a:spcBef>
                <a:spcPts val="300"/>
              </a:spcBef>
              <a:defRPr sz="1300">
                <a:solidFill>
                  <a:srgbClr val="0EA5E9"/>
                </a:solidFill>
                <a:latin typeface="Segoe UI"/>
              </a:defRPr>
            </a:pPr>
            <a:r>
              <a:t>Capacitated Vehicle Routing Problem (CVRP-S) with food spoilage penalties</a:t>
            </a:r>
          </a:p>
        </p:txBody>
      </p:sp>
      <p:sp>
        <p:nvSpPr>
          <p:cNvPr id="5" name="Rounded Rectangle 4"/>
          <p:cNvSpPr/>
          <p:nvPr/>
        </p:nvSpPr>
        <p:spPr>
          <a:xfrm>
            <a:off x="7498079" y="502920"/>
            <a:ext cx="2011680" cy="457200"/>
          </a:xfrm>
          <a:prstGeom prst="roundRect">
            <a:avLst/>
          </a:prstGeom>
          <a:solidFill>
            <a:srgbClr val="E0F2FE"/>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3A8A"/>
                </a:solidFill>
                <a:latin typeface="Segoe UI"/>
              </a:defRPr>
            </a:pPr>
            <a:r>
              <a:t>⚡ 0.8s Match Latency</a:t>
            </a:r>
          </a:p>
        </p:txBody>
      </p:sp>
      <p:sp>
        <p:nvSpPr>
          <p:cNvPr id="6" name="Rounded Rectangle 5"/>
          <p:cNvSpPr/>
          <p:nvPr/>
        </p:nvSpPr>
        <p:spPr>
          <a:xfrm>
            <a:off x="9692640" y="502920"/>
            <a:ext cx="2011680" cy="457200"/>
          </a:xfrm>
          <a:prstGeom prst="roundRect">
            <a:avLst/>
          </a:prstGeom>
          <a:solidFill>
            <a:srgbClr val="E0F2FE"/>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3A8A"/>
                </a:solidFill>
                <a:latin typeface="Segoe UI"/>
              </a:defRPr>
            </a:pPr>
            <a:r>
              <a:t>🌱 98.2% Spoilage Diverted</a:t>
            </a:r>
          </a:p>
        </p:txBody>
      </p:sp>
      <p:pic>
        <p:nvPicPr>
          <p:cNvPr id="7" name="Picture 6" descr="food_cold_transit_1792053250739.jpg"/>
          <p:cNvPicPr>
            <a:picLocks noChangeAspect="1"/>
          </p:cNvPicPr>
          <p:nvPr/>
        </p:nvPicPr>
        <p:blipFill>
          <a:blip r:embed="rId2"/>
          <a:stretch>
            <a:fillRect/>
          </a:stretch>
        </p:blipFill>
        <p:spPr>
          <a:xfrm>
            <a:off x="731520" y="1645920"/>
            <a:ext cx="5212080" cy="4480560"/>
          </a:xfrm>
          <a:prstGeom prst="rect">
            <a:avLst/>
          </a:prstGeom>
        </p:spPr>
      </p:pic>
      <p:sp>
        <p:nvSpPr>
          <p:cNvPr id="8" name="Rounded Rectangle 7"/>
          <p:cNvSpPr/>
          <p:nvPr/>
        </p:nvSpPr>
        <p:spPr>
          <a:xfrm>
            <a:off x="6217920" y="1645920"/>
            <a:ext cx="5212080"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400" b="1">
                <a:solidFill>
                  <a:srgbClr val="1E3A8A"/>
                </a:solidFill>
                <a:latin typeface="Segoe UI"/>
              </a:defRPr>
            </a:pPr>
            <a:r>
              <a:t>Multi-Stop VRP Optimizer Formulation</a:t>
            </a:r>
          </a:p>
          <a:p>
            <a:pPr>
              <a:spcBef>
                <a:spcPts val="400"/>
              </a:spcBef>
              <a:defRPr sz="950">
                <a:solidFill>
                  <a:srgbClr val="64748B"/>
                </a:solidFill>
                <a:latin typeface="Segoe UI"/>
              </a:defRPr>
            </a:pPr>
            <a:r>
              <a:t>Standard delivery algorithms only minimize travel distance. FoodLink Agent introduces a food-perishability decay multiplier into the objective function:</a:t>
            </a:r>
          </a:p>
          <a:p>
            <a:pPr>
              <a:spcBef>
                <a:spcPts val="600"/>
              </a:spcBef>
              <a:defRPr sz="950">
                <a:solidFill>
                  <a:srgbClr val="0F172A"/>
                </a:solidFill>
                <a:latin typeface="Segoe UI"/>
              </a:defRPr>
            </a:pPr>
            <a:r>
              <a:t>• Multi-Pickup Batching: 1 volunteer collects from 2-3 adjacent donors (e.g. Sarafa + 56 Dukan) before drop-off, cutting fuel miles by 35%.</a:t>
            </a:r>
          </a:p>
          <a:p>
            <a:pPr>
              <a:spcBef>
                <a:spcPts val="600"/>
              </a:spcBef>
              <a:defRPr sz="950">
                <a:solidFill>
                  <a:srgbClr val="0F172A"/>
                </a:solidFill>
                <a:latin typeface="Segoe UI"/>
              </a:defRPr>
            </a:pPr>
            <a:r>
              <a:t>• Spoilage Penalty Function: Routes are penalized exponentially if highly perishable cooked meals remain onboard vehicle &gt;45 minutes.</a:t>
            </a:r>
          </a:p>
          <a:p>
            <a:pPr>
              <a:spcBef>
                <a:spcPts val="600"/>
              </a:spcBef>
              <a:defRPr sz="950">
                <a:solidFill>
                  <a:srgbClr val="0F172A"/>
                </a:solidFill>
                <a:latin typeface="Segoe UI"/>
              </a:defRPr>
            </a:pPr>
            <a:r>
              <a:t>• Vehicle Capacity Matching: Dynamically allocates electric 2-wheelers for &lt;30kg fast runs and 4-wheeler vans for 200kg+ banquet events.</a:t>
            </a:r>
          </a:p>
          <a:p>
            <a:pPr>
              <a:spcBef>
                <a:spcPts val="600"/>
              </a:spcBef>
              <a:defRPr sz="950">
                <a:solidFill>
                  <a:srgbClr val="0F172A"/>
                </a:solidFill>
                <a:latin typeface="Segoe UI"/>
              </a:defRPr>
            </a:pPr>
            <a:r>
              <a:t>• Cold-Chain Guardrails: Enforces insulated thermal box requirements when ambient temperatures exceed 32°C.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686800" y="5303520"/>
            <a:ext cx="4114800" cy="201168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229600" cy="1005840"/>
          </a:xfrm>
          <a:prstGeom prst="rect">
            <a:avLst/>
          </a:prstGeom>
          <a:noFill/>
        </p:spPr>
        <p:txBody>
          <a:bodyPr wrap="square" lIns="0" tIns="0" rIns="0" bIns="0">
            <a:spAutoFit/>
          </a:bodyPr>
          <a:lstStyle/>
          <a:p>
            <a:pPr>
              <a:defRPr sz="2600" b="1">
                <a:solidFill>
                  <a:srgbClr val="1E3A8A"/>
                </a:solidFill>
                <a:latin typeface="Segoe UI"/>
              </a:defRPr>
            </a:pPr>
            <a:r>
              <a:t>AI for Predictive Planning &amp; Demand Forecasting</a:t>
            </a:r>
          </a:p>
          <a:p>
            <a:pPr>
              <a:spcBef>
                <a:spcPts val="300"/>
              </a:spcBef>
              <a:defRPr sz="1300">
                <a:solidFill>
                  <a:srgbClr val="0EA5E9"/>
                </a:solidFill>
                <a:latin typeface="Segoe UI"/>
              </a:defRPr>
            </a:pPr>
            <a:r>
              <a:t>4 AI/ML modules transforming reactive scrambling into proactive city-scale logistics</a:t>
            </a:r>
          </a:p>
        </p:txBody>
      </p:sp>
      <p:sp>
        <p:nvSpPr>
          <p:cNvPr id="5" name="Rounded Rectangle 4"/>
          <p:cNvSpPr/>
          <p:nvPr/>
        </p:nvSpPr>
        <p:spPr>
          <a:xfrm>
            <a:off x="731520" y="1645920"/>
            <a:ext cx="3474720" cy="4480560"/>
          </a:xfrm>
          <a:prstGeom prst="roundRect">
            <a:avLst/>
          </a:prstGeom>
          <a:solidFill>
            <a:srgbClr val="E0F2FE"/>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2926080" cy="3931920"/>
          </a:xfrm>
          <a:prstGeom prst="rect">
            <a:avLst/>
          </a:prstGeom>
          <a:noFill/>
        </p:spPr>
        <p:txBody>
          <a:bodyPr wrap="square">
            <a:spAutoFit/>
          </a:bodyPr>
          <a:lstStyle/>
          <a:p>
            <a:pPr>
              <a:defRPr sz="1100" b="1">
                <a:solidFill>
                  <a:srgbClr val="0EA5E9"/>
                </a:solidFill>
                <a:latin typeface="Segoe UI"/>
              </a:defRPr>
            </a:pPr>
            <a:r>
              <a:t>⚡ PREDICTIVE DISPATCH</a:t>
            </a:r>
          </a:p>
          <a:p>
            <a:pPr>
              <a:spcBef>
                <a:spcPts val="400"/>
              </a:spcBef>
              <a:defRPr sz="1700" b="1">
                <a:solidFill>
                  <a:srgbClr val="1E3A8A"/>
                </a:solidFill>
                <a:latin typeface="Segoe UI"/>
              </a:defRPr>
            </a:pPr>
            <a:r>
              <a:t>Predictive Intelligence</a:t>
            </a:r>
          </a:p>
          <a:p>
            <a:pPr>
              <a:spcBef>
                <a:spcPts val="800"/>
              </a:spcBef>
              <a:defRPr sz="1000">
                <a:solidFill>
                  <a:srgbClr val="0F172A"/>
                </a:solidFill>
                <a:latin typeface="Segoe UI"/>
              </a:defRPr>
            </a:pPr>
            <a:r>
              <a:t>By forecasting surplus 24h ahead, shelters can freeze purchase orders, staff their kitchens, and schedule volunteers well before food is even cooked.</a:t>
            </a:r>
          </a:p>
          <a:p>
            <a:pPr>
              <a:spcBef>
                <a:spcPts val="600"/>
              </a:spcBef>
              <a:defRPr sz="950">
                <a:solidFill>
                  <a:srgbClr val="64748B"/>
                </a:solidFill>
                <a:latin typeface="Segoe UI"/>
              </a:defRPr>
            </a:pPr>
            <a:r>
              <a:t>• Proactive volunteer routing</a:t>
            </a:r>
          </a:p>
          <a:p>
            <a:pPr>
              <a:spcBef>
                <a:spcPts val="600"/>
              </a:spcBef>
              <a:defRPr sz="950">
                <a:solidFill>
                  <a:srgbClr val="64748B"/>
                </a:solidFill>
                <a:latin typeface="Segoe UI"/>
              </a:defRPr>
            </a:pPr>
            <a:r>
              <a:t>• Reduced food degradation risk</a:t>
            </a:r>
          </a:p>
          <a:p>
            <a:pPr>
              <a:spcBef>
                <a:spcPts val="600"/>
              </a:spcBef>
              <a:defRPr sz="950">
                <a:solidFill>
                  <a:srgbClr val="64748B"/>
                </a:solidFill>
                <a:latin typeface="Segoe UI"/>
              </a:defRPr>
            </a:pPr>
            <a:r>
              <a:t>• Advance intake notification</a:t>
            </a:r>
          </a:p>
          <a:p>
            <a:pPr>
              <a:spcBef>
                <a:spcPts val="600"/>
              </a:spcBef>
              <a:defRPr sz="950">
                <a:solidFill>
                  <a:srgbClr val="64748B"/>
                </a:solidFill>
                <a:latin typeface="Segoe UI"/>
              </a:defRPr>
            </a:pPr>
            <a:r>
              <a:t>• Eliminates emergency shortages</a:t>
            </a:r>
          </a:p>
        </p:txBody>
      </p:sp>
      <p:sp>
        <p:nvSpPr>
          <p:cNvPr id="7" name="Rounded Rectangle 6"/>
          <p:cNvSpPr/>
          <p:nvPr/>
        </p:nvSpPr>
        <p:spPr>
          <a:xfrm>
            <a:off x="4480560" y="1645920"/>
            <a:ext cx="33832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0" tIns="182880" rIns="182880" bIns="182880"/>
          <a:lstStyle/>
          <a:p>
            <a:pPr algn="ctr">
              <a:defRPr sz="1100" b="1">
                <a:solidFill>
                  <a:srgbClr val="1E3A8A"/>
                </a:solidFill>
                <a:latin typeface="Segoe UI"/>
              </a:defRPr>
            </a:pPr>
            <a:r>
              <a:t>24h Surplus Demand Forecasting</a:t>
            </a:r>
          </a:p>
          <a:p>
            <a:pPr>
              <a:spcBef>
                <a:spcPts val="300"/>
              </a:spcBef>
              <a:defRPr sz="880">
                <a:solidFill>
                  <a:srgbClr val="64748B"/>
                </a:solidFill>
                <a:latin typeface="Segoe UI"/>
              </a:defRPr>
            </a:pPr>
            <a:r>
              <a:t>Ridge regression on day-of-week, event intensity &amp; historical 7d averages predicts next-day surplus (kg) with 95% confidence intervals.</a:t>
            </a:r>
          </a:p>
        </p:txBody>
      </p:sp>
      <p:sp>
        <p:nvSpPr>
          <p:cNvPr id="8" name="Oval 7"/>
          <p:cNvSpPr/>
          <p:nvPr/>
        </p:nvSpPr>
        <p:spPr>
          <a:xfrm>
            <a:off x="4663440" y="1828800"/>
            <a:ext cx="457200" cy="45720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Segoe UI"/>
              </a:defRPr>
            </a:pPr>
            <a:r>
              <a:t>01</a:t>
            </a:r>
          </a:p>
        </p:txBody>
      </p:sp>
      <p:sp>
        <p:nvSpPr>
          <p:cNvPr id="9" name="Rounded Rectangle 8"/>
          <p:cNvSpPr/>
          <p:nvPr/>
        </p:nvSpPr>
        <p:spPr>
          <a:xfrm>
            <a:off x="8138160" y="1645920"/>
            <a:ext cx="33832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0" tIns="182880" rIns="182880" bIns="182880"/>
          <a:lstStyle/>
          <a:p>
            <a:pPr algn="ctr">
              <a:defRPr sz="1100" b="1">
                <a:solidFill>
                  <a:srgbClr val="1E3A8A"/>
                </a:solidFill>
                <a:latin typeface="Segoe UI"/>
              </a:defRPr>
            </a:pPr>
            <a:r>
              <a:t>Arrhenius Shelf-Life Engine</a:t>
            </a:r>
          </a:p>
          <a:p>
            <a:pPr>
              <a:spcBef>
                <a:spcPts val="300"/>
              </a:spcBef>
              <a:defRPr sz="880">
                <a:solidFill>
                  <a:srgbClr val="64748B"/>
                </a:solidFill>
                <a:latin typeface="Segoe UI"/>
              </a:defRPr>
            </a:pPr>
            <a:r>
              <a:t>Physics-based model calculates bacterial kinetics across danger zones (5°C-60°C). Automatically triggers coordinator escalation if safe window &lt;1h.</a:t>
            </a:r>
          </a:p>
        </p:txBody>
      </p:sp>
      <p:sp>
        <p:nvSpPr>
          <p:cNvPr id="10" name="Oval 9"/>
          <p:cNvSpPr/>
          <p:nvPr/>
        </p:nvSpPr>
        <p:spPr>
          <a:xfrm>
            <a:off x="8321040" y="1828800"/>
            <a:ext cx="457200" cy="45720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Segoe UI"/>
              </a:defRPr>
            </a:pPr>
            <a:r>
              <a:t>02</a:t>
            </a:r>
          </a:p>
        </p:txBody>
      </p:sp>
      <p:sp>
        <p:nvSpPr>
          <p:cNvPr id="11" name="Rounded Rectangle 10"/>
          <p:cNvSpPr/>
          <p:nvPr/>
        </p:nvSpPr>
        <p:spPr>
          <a:xfrm>
            <a:off x="4480560" y="3931920"/>
            <a:ext cx="33832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0" tIns="182880" rIns="182880" bIns="182880"/>
          <a:lstStyle/>
          <a:p>
            <a:pPr algn="ctr">
              <a:defRPr sz="1100" b="1">
                <a:solidFill>
                  <a:srgbClr val="1E3A8A"/>
                </a:solidFill>
                <a:latin typeface="Segoe UI"/>
              </a:defRPr>
            </a:pPr>
            <a:r>
              <a:t>Smart Hybrid Matching Ranker</a:t>
            </a:r>
          </a:p>
          <a:p>
            <a:pPr>
              <a:spcBef>
                <a:spcPts val="300"/>
              </a:spcBef>
              <a:defRPr sz="880">
                <a:solidFill>
                  <a:srgbClr val="64748B"/>
                </a:solidFill>
                <a:latin typeface="Segoe UI"/>
              </a:defRPr>
            </a:pPr>
            <a:r>
              <a:t>Blends deterministic proximity/dietary rules with logistic regression predicting individual shelter acceptance probability based on past history.</a:t>
            </a:r>
          </a:p>
        </p:txBody>
      </p:sp>
      <p:sp>
        <p:nvSpPr>
          <p:cNvPr id="12" name="Oval 11"/>
          <p:cNvSpPr/>
          <p:nvPr/>
        </p:nvSpPr>
        <p:spPr>
          <a:xfrm>
            <a:off x="4663440" y="4114800"/>
            <a:ext cx="457200" cy="45720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Segoe UI"/>
              </a:defRPr>
            </a:pPr>
            <a:r>
              <a:t>03</a:t>
            </a:r>
          </a:p>
        </p:txBody>
      </p:sp>
      <p:sp>
        <p:nvSpPr>
          <p:cNvPr id="13" name="Rounded Rectangle 12"/>
          <p:cNvSpPr/>
          <p:nvPr/>
        </p:nvSpPr>
        <p:spPr>
          <a:xfrm>
            <a:off x="8138160" y="3931920"/>
            <a:ext cx="33832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0" tIns="182880" rIns="182880" bIns="182880"/>
          <a:lstStyle/>
          <a:p>
            <a:pPr algn="ctr">
              <a:defRPr sz="1100" b="1">
                <a:solidFill>
                  <a:srgbClr val="1E3A8A"/>
                </a:solidFill>
                <a:latin typeface="Segoe UI"/>
              </a:defRPr>
            </a:pPr>
            <a:r>
              <a:t>Indore Ward Hotspot Heatmaps</a:t>
            </a:r>
          </a:p>
          <a:p>
            <a:pPr>
              <a:spcBef>
                <a:spcPts val="300"/>
              </a:spcBef>
              <a:defRPr sz="880">
                <a:solidFill>
                  <a:srgbClr val="64748B"/>
                </a:solidFill>
                <a:latin typeface="Segoe UI"/>
              </a:defRPr>
            </a:pPr>
            <a:r>
              <a:t>Geospatial clustering isolates recurring surplus wards (Sarafa, 56 Dukan, Vijay Nagar) for proactive micro-fleet pre-positioning.</a:t>
            </a:r>
          </a:p>
        </p:txBody>
      </p:sp>
      <p:sp>
        <p:nvSpPr>
          <p:cNvPr id="14" name="Oval 13"/>
          <p:cNvSpPr/>
          <p:nvPr/>
        </p:nvSpPr>
        <p:spPr>
          <a:xfrm>
            <a:off x="8321040" y="4114800"/>
            <a:ext cx="457200" cy="45720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Segoe UI"/>
              </a:defRPr>
            </a:pPr>
            <a: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686800" y="5303520"/>
            <a:ext cx="4114800" cy="201168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229600" cy="1005840"/>
          </a:xfrm>
          <a:prstGeom prst="rect">
            <a:avLst/>
          </a:prstGeom>
          <a:noFill/>
        </p:spPr>
        <p:txBody>
          <a:bodyPr wrap="square" lIns="0" tIns="0" rIns="0" bIns="0">
            <a:spAutoFit/>
          </a:bodyPr>
          <a:lstStyle/>
          <a:p>
            <a:pPr>
              <a:defRPr sz="2600" b="1">
                <a:solidFill>
                  <a:srgbClr val="1E3A8A"/>
                </a:solidFill>
                <a:latin typeface="Segoe UI"/>
              </a:defRPr>
            </a:pPr>
            <a:r>
              <a:t>Boosting Non-Profit &amp; Partner Productivity</a:t>
            </a:r>
          </a:p>
          <a:p>
            <a:pPr>
              <a:spcBef>
                <a:spcPts val="300"/>
              </a:spcBef>
              <a:defRPr sz="1300">
                <a:solidFill>
                  <a:srgbClr val="0EA5E9"/>
                </a:solidFill>
                <a:latin typeface="Segoe UI"/>
              </a:defRPr>
            </a:pPr>
            <a:r>
              <a:t>Three specialized AI engines saving 20-25 hours per coordinator weekly</a:t>
            </a:r>
          </a:p>
        </p:txBody>
      </p:sp>
      <p:sp>
        <p:nvSpPr>
          <p:cNvPr id="5" name="Rounded Rectangle 4"/>
          <p:cNvSpPr/>
          <p:nvPr/>
        </p:nvSpPr>
        <p:spPr>
          <a:xfrm>
            <a:off x="731520" y="1645920"/>
            <a:ext cx="3429000"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429000" cy="164592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850" b="1">
                <a:solidFill>
                  <a:srgbClr val="0EA5E9"/>
                </a:solidFill>
                <a:latin typeface="Segoe UI"/>
              </a:defRPr>
            </a:pPr>
            <a:r>
              <a:t>ADVANCE DEMAND INTELLIGENCE</a:t>
            </a:r>
          </a:p>
          <a:p>
            <a:pPr>
              <a:defRPr sz="2200" b="1">
                <a:solidFill>
                  <a:srgbClr val="1E3A8A"/>
                </a:solidFill>
                <a:latin typeface="Segoe UI"/>
              </a:defRPr>
            </a:pPr>
            <a:r>
              <a:t>92% Accuracy</a:t>
            </a:r>
          </a:p>
        </p:txBody>
      </p:sp>
      <p:sp>
        <p:nvSpPr>
          <p:cNvPr id="7" name="TextBox 6"/>
          <p:cNvSpPr txBox="1"/>
          <p:nvPr/>
        </p:nvSpPr>
        <p:spPr>
          <a:xfrm>
            <a:off x="914400" y="3474720"/>
            <a:ext cx="3063240" cy="2377440"/>
          </a:xfrm>
          <a:prstGeom prst="rect">
            <a:avLst/>
          </a:prstGeom>
          <a:noFill/>
        </p:spPr>
        <p:txBody>
          <a:bodyPr wrap="square">
            <a:spAutoFit/>
          </a:bodyPr>
          <a:lstStyle/>
          <a:p>
            <a:pPr>
              <a:defRPr sz="1200" b="1">
                <a:solidFill>
                  <a:srgbClr val="1E3A8A"/>
                </a:solidFill>
                <a:latin typeface="Segoe UI"/>
              </a:defRPr>
            </a:pPr>
            <a:r>
              <a:t>AI-Powered Surplus Forecasting</a:t>
            </a:r>
          </a:p>
          <a:p>
            <a:pPr>
              <a:spcBef>
                <a:spcPts val="600"/>
              </a:spcBef>
              <a:defRPr sz="950">
                <a:solidFill>
                  <a:srgbClr val="64748B"/>
                </a:solidFill>
                <a:latin typeface="Segoe UI"/>
              </a:defRPr>
            </a:pPr>
            <a:r>
              <a:t>Time-series Ridge model predicts next-day surplus volume for banquets and commercial restaurants, giving shelters 24h advance notice to prepare intake capacity.</a:t>
            </a:r>
          </a:p>
        </p:txBody>
      </p:sp>
      <p:sp>
        <p:nvSpPr>
          <p:cNvPr id="8" name="Rounded Rectangle 7"/>
          <p:cNvSpPr/>
          <p:nvPr/>
        </p:nvSpPr>
        <p:spPr>
          <a:xfrm>
            <a:off x="4389120" y="1645920"/>
            <a:ext cx="3429000"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0" y="1645920"/>
            <a:ext cx="3429000" cy="164592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850" b="1">
                <a:solidFill>
                  <a:srgbClr val="0EA5E9"/>
                </a:solidFill>
                <a:latin typeface="Segoe UI"/>
              </a:defRPr>
            </a:pPr>
            <a:r>
              <a:t>DYNAMIC TRANSIT DISPATCH</a:t>
            </a:r>
          </a:p>
          <a:p>
            <a:pPr>
              <a:defRPr sz="2200" b="1">
                <a:solidFill>
                  <a:srgbClr val="1E3A8A"/>
                </a:solidFill>
                <a:latin typeface="Segoe UI"/>
              </a:defRPr>
            </a:pPr>
            <a:r>
              <a:t>1.8x Batching</a:t>
            </a:r>
          </a:p>
        </p:txBody>
      </p:sp>
      <p:sp>
        <p:nvSpPr>
          <p:cNvPr id="10" name="TextBox 9"/>
          <p:cNvSpPr txBox="1"/>
          <p:nvPr/>
        </p:nvSpPr>
        <p:spPr>
          <a:xfrm>
            <a:off x="4572000" y="3474720"/>
            <a:ext cx="3063240" cy="2377440"/>
          </a:xfrm>
          <a:prstGeom prst="rect">
            <a:avLst/>
          </a:prstGeom>
          <a:noFill/>
        </p:spPr>
        <p:txBody>
          <a:bodyPr wrap="square">
            <a:spAutoFit/>
          </a:bodyPr>
          <a:lstStyle/>
          <a:p>
            <a:pPr>
              <a:defRPr sz="1200" b="1">
                <a:solidFill>
                  <a:srgbClr val="1E3A8A"/>
                </a:solidFill>
                <a:latin typeface="Segoe UI"/>
              </a:defRPr>
            </a:pPr>
            <a:r>
              <a:t>Smart Fleet Route Optimizer</a:t>
            </a:r>
          </a:p>
          <a:p>
            <a:pPr>
              <a:spcBef>
                <a:spcPts val="600"/>
              </a:spcBef>
              <a:defRPr sz="950">
                <a:solidFill>
                  <a:srgbClr val="64748B"/>
                </a:solidFill>
                <a:latin typeface="Segoe UI"/>
              </a:defRPr>
            </a:pPr>
            <a:r>
              <a:t>Heuristic VRP solver batches 2-3 pickups simultaneously, calculates turn-by-turn waypoints, and minimizes perishable decay while saving 35% on volunteer travel fuel.</a:t>
            </a:r>
          </a:p>
        </p:txBody>
      </p:sp>
      <p:sp>
        <p:nvSpPr>
          <p:cNvPr id="11" name="Rounded Rectangle 10"/>
          <p:cNvSpPr/>
          <p:nvPr/>
        </p:nvSpPr>
        <p:spPr>
          <a:xfrm>
            <a:off x="8046720" y="1645920"/>
            <a:ext cx="3429000"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0" y="1645920"/>
            <a:ext cx="3429000" cy="164592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850" b="1">
                <a:solidFill>
                  <a:srgbClr val="0EA5E9"/>
                </a:solidFill>
                <a:latin typeface="Segoe UI"/>
              </a:defRPr>
            </a:pPr>
            <a:r>
              <a:t>REAL-TIME IMPACT METRICS</a:t>
            </a:r>
          </a:p>
          <a:p>
            <a:pPr>
              <a:defRPr sz="2200" b="1">
                <a:solidFill>
                  <a:srgbClr val="1E3A8A"/>
                </a:solidFill>
                <a:latin typeface="Segoe UI"/>
              </a:defRPr>
            </a:pPr>
            <a:r>
              <a:t>&lt;0.8s Latency</a:t>
            </a:r>
          </a:p>
        </p:txBody>
      </p:sp>
      <p:sp>
        <p:nvSpPr>
          <p:cNvPr id="13" name="TextBox 12"/>
          <p:cNvSpPr txBox="1"/>
          <p:nvPr/>
        </p:nvSpPr>
        <p:spPr>
          <a:xfrm>
            <a:off x="8229600" y="3474720"/>
            <a:ext cx="3063240" cy="2377440"/>
          </a:xfrm>
          <a:prstGeom prst="rect">
            <a:avLst/>
          </a:prstGeom>
          <a:noFill/>
        </p:spPr>
        <p:txBody>
          <a:bodyPr wrap="square">
            <a:spAutoFit/>
          </a:bodyPr>
          <a:lstStyle/>
          <a:p>
            <a:pPr>
              <a:defRPr sz="1200" b="1">
                <a:solidFill>
                  <a:srgbClr val="1E3A8A"/>
                </a:solidFill>
                <a:latin typeface="Segoe UI"/>
              </a:defRPr>
            </a:pPr>
            <a:r>
              <a:t>AI-Driven Analytics Dashboards</a:t>
            </a:r>
          </a:p>
          <a:p>
            <a:pPr>
              <a:spcBef>
                <a:spcPts val="600"/>
              </a:spcBef>
              <a:defRPr sz="950">
                <a:solidFill>
                  <a:srgbClr val="64748B"/>
                </a:solidFill>
                <a:latin typeface="Segoe UI"/>
              </a:defRPr>
            </a:pPr>
            <a:r>
              <a:t>Live public impact summaries compute diverted kg, USDA meal equivalents, and CO2 emissions prevented, generating automated CSR and tax diversion audit receipts.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686800" y="5303520"/>
            <a:ext cx="4114800" cy="201168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229600" cy="1005840"/>
          </a:xfrm>
          <a:prstGeom prst="rect">
            <a:avLst/>
          </a:prstGeom>
          <a:noFill/>
        </p:spPr>
        <p:txBody>
          <a:bodyPr wrap="square" lIns="0" tIns="0" rIns="0" bIns="0">
            <a:spAutoFit/>
          </a:bodyPr>
          <a:lstStyle/>
          <a:p>
            <a:pPr>
              <a:defRPr sz="2600" b="1">
                <a:solidFill>
                  <a:srgbClr val="1E3A8A"/>
                </a:solidFill>
                <a:latin typeface="Segoe UI"/>
              </a:defRPr>
            </a:pPr>
            <a:r>
              <a:t>The Workflow Automation Showcase</a:t>
            </a:r>
          </a:p>
          <a:p>
            <a:pPr>
              <a:spcBef>
                <a:spcPts val="300"/>
              </a:spcBef>
              <a:defRPr sz="1300">
                <a:solidFill>
                  <a:srgbClr val="0EA5E9"/>
                </a:solidFill>
                <a:latin typeface="Segoe UI"/>
              </a:defRPr>
            </a:pPr>
            <a:r>
              <a:t>Visualizing the end-to-end operational transformation</a:t>
            </a:r>
          </a:p>
        </p:txBody>
      </p:sp>
      <p:sp>
        <p:nvSpPr>
          <p:cNvPr id="5" name="TextBox 4"/>
          <p:cNvSpPr txBox="1"/>
          <p:nvPr/>
        </p:nvSpPr>
        <p:spPr>
          <a:xfrm>
            <a:off x="731520" y="1554480"/>
            <a:ext cx="3657600" cy="457200"/>
          </a:xfrm>
          <a:prstGeom prst="rect">
            <a:avLst/>
          </a:prstGeom>
          <a:noFill/>
        </p:spPr>
        <p:txBody>
          <a:bodyPr wrap="none">
            <a:spAutoFit/>
          </a:bodyPr>
          <a:lstStyle/>
          <a:p>
            <a:pPr>
              <a:defRPr sz="1200" b="1">
                <a:solidFill>
                  <a:srgbClr val="64748B"/>
                </a:solidFill>
                <a:latin typeface="Segoe UI"/>
              </a:defRPr>
            </a:pPr>
            <a:r>
              <a:t>Before AI (Manual Workflow)</a:t>
            </a:r>
          </a:p>
        </p:txBody>
      </p:sp>
      <p:sp>
        <p:nvSpPr>
          <p:cNvPr id="6" name="Rectangle 5"/>
          <p:cNvSpPr/>
          <p:nvPr/>
        </p:nvSpPr>
        <p:spPr>
          <a:xfrm>
            <a:off x="1645920" y="2423160"/>
            <a:ext cx="8686800" cy="3657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89888" y="2194560"/>
            <a:ext cx="512064" cy="512064"/>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01</a:t>
            </a:r>
          </a:p>
        </p:txBody>
      </p:sp>
      <p:sp>
        <p:nvSpPr>
          <p:cNvPr id="8" name="TextBox 7"/>
          <p:cNvSpPr txBox="1"/>
          <p:nvPr/>
        </p:nvSpPr>
        <p:spPr>
          <a:xfrm>
            <a:off x="548640" y="2816352"/>
            <a:ext cx="2194560" cy="822960"/>
          </a:xfrm>
          <a:prstGeom prst="rect">
            <a:avLst/>
          </a:prstGeom>
          <a:noFill/>
        </p:spPr>
        <p:txBody>
          <a:bodyPr wrap="square">
            <a:spAutoFit/>
          </a:bodyPr>
          <a:lstStyle/>
          <a:p>
            <a:pPr algn="ctr">
              <a:defRPr sz="950" b="1">
                <a:solidFill>
                  <a:srgbClr val="0F172A"/>
                </a:solidFill>
                <a:latin typeface="Segoe UI"/>
              </a:defRPr>
            </a:pPr>
            <a:r>
              <a:t>The manual phone</a:t>
            </a:r>
            <a:br/>
            <a:r>
              <a:t>entry phase</a:t>
            </a:r>
          </a:p>
        </p:txBody>
      </p:sp>
      <p:sp>
        <p:nvSpPr>
          <p:cNvPr id="9" name="Oval 8"/>
          <p:cNvSpPr/>
          <p:nvPr/>
        </p:nvSpPr>
        <p:spPr>
          <a:xfrm>
            <a:off x="4133088" y="2194560"/>
            <a:ext cx="512064" cy="512064"/>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02</a:t>
            </a:r>
          </a:p>
        </p:txBody>
      </p:sp>
      <p:sp>
        <p:nvSpPr>
          <p:cNvPr id="10" name="TextBox 9"/>
          <p:cNvSpPr txBox="1"/>
          <p:nvPr/>
        </p:nvSpPr>
        <p:spPr>
          <a:xfrm>
            <a:off x="3291840" y="2816352"/>
            <a:ext cx="2194560" cy="822960"/>
          </a:xfrm>
          <a:prstGeom prst="rect">
            <a:avLst/>
          </a:prstGeom>
          <a:noFill/>
        </p:spPr>
        <p:txBody>
          <a:bodyPr wrap="square">
            <a:spAutoFit/>
          </a:bodyPr>
          <a:lstStyle/>
          <a:p>
            <a:pPr algn="ctr">
              <a:defRPr sz="950" b="1">
                <a:solidFill>
                  <a:srgbClr val="0F172A"/>
                </a:solidFill>
                <a:latin typeface="Segoe UI"/>
              </a:defRPr>
            </a:pPr>
            <a:r>
              <a:t>Human approval</a:t>
            </a:r>
            <a:br/>
            <a:r>
              <a:t>delay phase</a:t>
            </a:r>
          </a:p>
        </p:txBody>
      </p:sp>
      <p:sp>
        <p:nvSpPr>
          <p:cNvPr id="11" name="Oval 10"/>
          <p:cNvSpPr/>
          <p:nvPr/>
        </p:nvSpPr>
        <p:spPr>
          <a:xfrm>
            <a:off x="6876288" y="2194560"/>
            <a:ext cx="512064" cy="512064"/>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03</a:t>
            </a:r>
          </a:p>
        </p:txBody>
      </p:sp>
      <p:sp>
        <p:nvSpPr>
          <p:cNvPr id="12" name="TextBox 11"/>
          <p:cNvSpPr txBox="1"/>
          <p:nvPr/>
        </p:nvSpPr>
        <p:spPr>
          <a:xfrm>
            <a:off x="6035040" y="2816352"/>
            <a:ext cx="2194560" cy="822960"/>
          </a:xfrm>
          <a:prstGeom prst="rect">
            <a:avLst/>
          </a:prstGeom>
          <a:noFill/>
        </p:spPr>
        <p:txBody>
          <a:bodyPr wrap="square">
            <a:spAutoFit/>
          </a:bodyPr>
          <a:lstStyle/>
          <a:p>
            <a:pPr algn="ctr">
              <a:defRPr sz="950" b="1">
                <a:solidFill>
                  <a:srgbClr val="0F172A"/>
                </a:solidFill>
                <a:latin typeface="Segoe UI"/>
              </a:defRPr>
            </a:pPr>
            <a:r>
              <a:t>Repetitive reporting</a:t>
            </a:r>
            <a:br/>
            <a:r>
              <a:t>tasks phase</a:t>
            </a:r>
          </a:p>
        </p:txBody>
      </p:sp>
      <p:sp>
        <p:nvSpPr>
          <p:cNvPr id="13" name="Oval 12"/>
          <p:cNvSpPr/>
          <p:nvPr/>
        </p:nvSpPr>
        <p:spPr>
          <a:xfrm>
            <a:off x="9619488" y="2194560"/>
            <a:ext cx="512064" cy="512064"/>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04</a:t>
            </a:r>
          </a:p>
        </p:txBody>
      </p:sp>
      <p:sp>
        <p:nvSpPr>
          <p:cNvPr id="14" name="TextBox 13"/>
          <p:cNvSpPr txBox="1"/>
          <p:nvPr/>
        </p:nvSpPr>
        <p:spPr>
          <a:xfrm>
            <a:off x="8778240" y="2816352"/>
            <a:ext cx="2194560" cy="822960"/>
          </a:xfrm>
          <a:prstGeom prst="rect">
            <a:avLst/>
          </a:prstGeom>
          <a:noFill/>
        </p:spPr>
        <p:txBody>
          <a:bodyPr wrap="square">
            <a:spAutoFit/>
          </a:bodyPr>
          <a:lstStyle/>
          <a:p>
            <a:pPr algn="ctr">
              <a:defRPr sz="950" b="1">
                <a:solidFill>
                  <a:srgbClr val="0F172A"/>
                </a:solidFill>
                <a:latin typeface="Segoe UI"/>
              </a:defRPr>
            </a:pPr>
            <a:r>
              <a:t>Errors and spoilage</a:t>
            </a:r>
            <a:br/>
            <a:r>
              <a:t>orientation phase</a:t>
            </a:r>
          </a:p>
        </p:txBody>
      </p:sp>
      <p:sp>
        <p:nvSpPr>
          <p:cNvPr id="15" name="TextBox 14"/>
          <p:cNvSpPr txBox="1"/>
          <p:nvPr/>
        </p:nvSpPr>
        <p:spPr>
          <a:xfrm>
            <a:off x="731520" y="3840480"/>
            <a:ext cx="3657600" cy="457200"/>
          </a:xfrm>
          <a:prstGeom prst="rect">
            <a:avLst/>
          </a:prstGeom>
          <a:noFill/>
        </p:spPr>
        <p:txBody>
          <a:bodyPr wrap="none">
            <a:spAutoFit/>
          </a:bodyPr>
          <a:lstStyle/>
          <a:p>
            <a:pPr>
              <a:defRPr sz="1200" b="1">
                <a:solidFill>
                  <a:srgbClr val="0EA5E9"/>
                </a:solidFill>
                <a:latin typeface="Segoe UI"/>
              </a:defRPr>
            </a:pPr>
            <a:r>
              <a:t>After AI (Automated Workflow)</a:t>
            </a:r>
          </a:p>
        </p:txBody>
      </p:sp>
      <p:sp>
        <p:nvSpPr>
          <p:cNvPr id="16" name="Rectangle 15"/>
          <p:cNvSpPr/>
          <p:nvPr/>
        </p:nvSpPr>
        <p:spPr>
          <a:xfrm>
            <a:off x="1645920" y="4709160"/>
            <a:ext cx="868680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389888" y="4480560"/>
            <a:ext cx="512064" cy="512064"/>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01</a:t>
            </a:r>
          </a:p>
        </p:txBody>
      </p:sp>
      <p:sp>
        <p:nvSpPr>
          <p:cNvPr id="18" name="TextBox 17"/>
          <p:cNvSpPr txBox="1"/>
          <p:nvPr/>
        </p:nvSpPr>
        <p:spPr>
          <a:xfrm>
            <a:off x="548640" y="5102352"/>
            <a:ext cx="2194560" cy="822960"/>
          </a:xfrm>
          <a:prstGeom prst="rect">
            <a:avLst/>
          </a:prstGeom>
          <a:noFill/>
        </p:spPr>
        <p:txBody>
          <a:bodyPr wrap="square">
            <a:spAutoFit/>
          </a:bodyPr>
          <a:lstStyle/>
          <a:p>
            <a:pPr algn="ctr">
              <a:defRPr sz="950" b="1">
                <a:solidFill>
                  <a:srgbClr val="1E3A8A"/>
                </a:solidFill>
                <a:latin typeface="Segoe UI"/>
              </a:defRPr>
            </a:pPr>
            <a:r>
              <a:t>Auto data intake &amp;</a:t>
            </a:r>
            <a:br/>
            <a:r>
              <a:t>tokenization</a:t>
            </a:r>
          </a:p>
        </p:txBody>
      </p:sp>
      <p:sp>
        <p:nvSpPr>
          <p:cNvPr id="19" name="Oval 18"/>
          <p:cNvSpPr/>
          <p:nvPr/>
        </p:nvSpPr>
        <p:spPr>
          <a:xfrm>
            <a:off x="4133088" y="4480560"/>
            <a:ext cx="512064" cy="512064"/>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02</a:t>
            </a:r>
          </a:p>
        </p:txBody>
      </p:sp>
      <p:sp>
        <p:nvSpPr>
          <p:cNvPr id="20" name="TextBox 19"/>
          <p:cNvSpPr txBox="1"/>
          <p:nvPr/>
        </p:nvSpPr>
        <p:spPr>
          <a:xfrm>
            <a:off x="3291840" y="5102352"/>
            <a:ext cx="2194560" cy="822960"/>
          </a:xfrm>
          <a:prstGeom prst="rect">
            <a:avLst/>
          </a:prstGeom>
          <a:noFill/>
        </p:spPr>
        <p:txBody>
          <a:bodyPr wrap="square">
            <a:spAutoFit/>
          </a:bodyPr>
          <a:lstStyle/>
          <a:p>
            <a:pPr algn="ctr">
              <a:defRPr sz="950" b="1">
                <a:solidFill>
                  <a:srgbClr val="1E3A8A"/>
                </a:solidFill>
                <a:latin typeface="Segoe UI"/>
              </a:defRPr>
            </a:pPr>
            <a:r>
              <a:t>Instant sub-second</a:t>
            </a:r>
            <a:br/>
            <a:r>
              <a:t>routing phase</a:t>
            </a:r>
          </a:p>
        </p:txBody>
      </p:sp>
      <p:sp>
        <p:nvSpPr>
          <p:cNvPr id="21" name="Oval 20"/>
          <p:cNvSpPr/>
          <p:nvPr/>
        </p:nvSpPr>
        <p:spPr>
          <a:xfrm>
            <a:off x="6876288" y="4480560"/>
            <a:ext cx="512064" cy="512064"/>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03</a:t>
            </a:r>
          </a:p>
        </p:txBody>
      </p:sp>
      <p:sp>
        <p:nvSpPr>
          <p:cNvPr id="22" name="TextBox 21"/>
          <p:cNvSpPr txBox="1"/>
          <p:nvPr/>
        </p:nvSpPr>
        <p:spPr>
          <a:xfrm>
            <a:off x="6035040" y="5102352"/>
            <a:ext cx="2194560" cy="822960"/>
          </a:xfrm>
          <a:prstGeom prst="rect">
            <a:avLst/>
          </a:prstGeom>
          <a:noFill/>
        </p:spPr>
        <p:txBody>
          <a:bodyPr wrap="square">
            <a:spAutoFit/>
          </a:bodyPr>
          <a:lstStyle/>
          <a:p>
            <a:pPr algn="ctr">
              <a:defRPr sz="950" b="1">
                <a:solidFill>
                  <a:srgbClr val="1E3A8A"/>
                </a:solidFill>
                <a:latin typeface="Segoe UI"/>
              </a:defRPr>
            </a:pPr>
            <a:r>
              <a:t>Real-time reporting</a:t>
            </a:r>
            <a:br/>
            <a:r>
              <a:t>dashboards</a:t>
            </a:r>
          </a:p>
        </p:txBody>
      </p:sp>
      <p:sp>
        <p:nvSpPr>
          <p:cNvPr id="23" name="Oval 22"/>
          <p:cNvSpPr/>
          <p:nvPr/>
        </p:nvSpPr>
        <p:spPr>
          <a:xfrm>
            <a:off x="9619488" y="4480560"/>
            <a:ext cx="512064" cy="512064"/>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04</a:t>
            </a:r>
          </a:p>
        </p:txBody>
      </p:sp>
      <p:sp>
        <p:nvSpPr>
          <p:cNvPr id="24" name="TextBox 23"/>
          <p:cNvSpPr txBox="1"/>
          <p:nvPr/>
        </p:nvSpPr>
        <p:spPr>
          <a:xfrm>
            <a:off x="8778240" y="5102352"/>
            <a:ext cx="2194560" cy="822960"/>
          </a:xfrm>
          <a:prstGeom prst="rect">
            <a:avLst/>
          </a:prstGeom>
          <a:noFill/>
        </p:spPr>
        <p:txBody>
          <a:bodyPr wrap="square">
            <a:spAutoFit/>
          </a:bodyPr>
          <a:lstStyle/>
          <a:p>
            <a:pPr algn="ctr">
              <a:defRPr sz="950" b="1">
                <a:solidFill>
                  <a:srgbClr val="1E3A8A"/>
                </a:solidFill>
                <a:latin typeface="Segoe UI"/>
              </a:defRPr>
            </a:pPr>
            <a:r>
              <a:t>Greatly reduced</a:t>
            </a:r>
            <a:br/>
            <a:r>
              <a:t>operational errors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686800" y="5303520"/>
            <a:ext cx="4114800" cy="201168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229600" cy="1005840"/>
          </a:xfrm>
          <a:prstGeom prst="rect">
            <a:avLst/>
          </a:prstGeom>
          <a:noFill/>
        </p:spPr>
        <p:txBody>
          <a:bodyPr wrap="square" lIns="0" tIns="0" rIns="0" bIns="0">
            <a:spAutoFit/>
          </a:bodyPr>
          <a:lstStyle/>
          <a:p>
            <a:pPr>
              <a:defRPr sz="2600" b="1">
                <a:solidFill>
                  <a:srgbClr val="1E3A8A"/>
                </a:solidFill>
                <a:latin typeface="Segoe UI"/>
              </a:defRPr>
            </a:pPr>
            <a:r>
              <a:t>Cost-Benefit &amp; Community Impact Analysis</a:t>
            </a:r>
          </a:p>
          <a:p>
            <a:pPr>
              <a:spcBef>
                <a:spcPts val="300"/>
              </a:spcBef>
              <a:defRPr sz="1300">
                <a:solidFill>
                  <a:srgbClr val="0EA5E9"/>
                </a:solidFill>
                <a:latin typeface="Segoe UI"/>
              </a:defRPr>
            </a:pPr>
            <a:r>
              <a:t>Quantifying the financial ROI and hunger relief leverage</a:t>
            </a:r>
          </a:p>
        </p:txBody>
      </p:sp>
      <p:pic>
        <p:nvPicPr>
          <p:cNvPr id="5" name="Picture 4" descr="food_community_serve_1792053276389.jpg"/>
          <p:cNvPicPr>
            <a:picLocks noChangeAspect="1"/>
          </p:cNvPicPr>
          <p:nvPr/>
        </p:nvPicPr>
        <p:blipFill>
          <a:blip r:embed="rId2"/>
          <a:stretch>
            <a:fillRect/>
          </a:stretch>
        </p:blipFill>
        <p:spPr>
          <a:xfrm>
            <a:off x="731520" y="1645920"/>
            <a:ext cx="3840480" cy="4480560"/>
          </a:xfrm>
          <a:prstGeom prst="rect">
            <a:avLst/>
          </a:prstGeom>
        </p:spPr>
      </p:pic>
      <p:sp>
        <p:nvSpPr>
          <p:cNvPr id="6" name="TextBox 5"/>
          <p:cNvSpPr txBox="1"/>
          <p:nvPr/>
        </p:nvSpPr>
        <p:spPr>
          <a:xfrm>
            <a:off x="4846320" y="1645920"/>
            <a:ext cx="3566160" cy="4480560"/>
          </a:xfrm>
          <a:prstGeom prst="rect">
            <a:avLst/>
          </a:prstGeom>
          <a:noFill/>
        </p:spPr>
        <p:txBody>
          <a:bodyPr wrap="square">
            <a:spAutoFit/>
          </a:bodyPr>
          <a:lstStyle/>
          <a:p>
            <a:pPr>
              <a:defRPr sz="1100">
                <a:solidFill>
                  <a:srgbClr val="64748B"/>
                </a:solidFill>
                <a:latin typeface="Segoe UI"/>
              </a:defRPr>
            </a:pPr>
            <a:r>
              <a:t>Initial Implementation</a:t>
            </a:r>
          </a:p>
          <a:p>
            <a:pPr>
              <a:defRPr sz="2800" b="1">
                <a:solidFill>
                  <a:srgbClr val="1E3A8A"/>
                </a:solidFill>
                <a:latin typeface="Segoe UI"/>
              </a:defRPr>
            </a:pPr>
            <a:r>
              <a:t>$ 52,000</a:t>
            </a:r>
          </a:p>
          <a:p>
            <a:pPr>
              <a:spcBef>
                <a:spcPts val="400"/>
              </a:spcBef>
              <a:defRPr sz="950">
                <a:solidFill>
                  <a:srgbClr val="0F172A"/>
                </a:solidFill>
                <a:latin typeface="Segoe UI"/>
              </a:defRPr>
            </a:pPr>
            <a:r>
              <a:t>• AI compute &amp; serverless licensing</a:t>
            </a:r>
            <a:br/>
            <a:r>
              <a:t>• Location matrix API integration</a:t>
            </a:r>
            <a:br/>
            <a:r>
              <a:t>• Insulated volunteer thermal bags</a:t>
            </a:r>
          </a:p>
          <a:p>
            <a:pPr>
              <a:spcBef>
                <a:spcPts val="1600"/>
              </a:spcBef>
              <a:defRPr sz="1100">
                <a:solidFill>
                  <a:srgbClr val="64748B"/>
                </a:solidFill>
                <a:latin typeface="Segoe UI"/>
              </a:defRPr>
            </a:pPr>
            <a:r>
              <a:t>Long-Term Value Created</a:t>
            </a:r>
          </a:p>
          <a:p>
            <a:pPr>
              <a:defRPr sz="2800" b="1">
                <a:solidFill>
                  <a:srgbClr val="0EA5E9"/>
                </a:solidFill>
                <a:latin typeface="Segoe UI"/>
              </a:defRPr>
            </a:pPr>
            <a:r>
              <a:t>$ 880,000+</a:t>
            </a:r>
          </a:p>
          <a:p>
            <a:pPr>
              <a:spcBef>
                <a:spcPts val="400"/>
              </a:spcBef>
              <a:defRPr sz="950">
                <a:solidFill>
                  <a:srgbClr val="0F172A"/>
                </a:solidFill>
                <a:latin typeface="Segoe UI"/>
              </a:defRPr>
            </a:pPr>
            <a:r>
              <a:t>• Rescued food economic value</a:t>
            </a:r>
            <a:br/>
            <a:r>
              <a:t>• Carbon &amp; methane landfill diversion</a:t>
            </a:r>
            <a:br/>
            <a:r>
              <a:t>• 25 hrs/week coordinator labor saved</a:t>
            </a:r>
          </a:p>
        </p:txBody>
      </p:sp>
      <p:sp>
        <p:nvSpPr>
          <p:cNvPr id="7" name="Rounded Rectangle 6"/>
          <p:cNvSpPr/>
          <p:nvPr/>
        </p:nvSpPr>
        <p:spPr>
          <a:xfrm>
            <a:off x="8686800" y="1645920"/>
            <a:ext cx="2743200"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0" y="1828800"/>
            <a:ext cx="2377440" cy="365760"/>
          </a:xfrm>
          <a:prstGeom prst="rect">
            <a:avLst/>
          </a:prstGeom>
          <a:noFill/>
        </p:spPr>
        <p:txBody>
          <a:bodyPr wrap="none">
            <a:spAutoFit/>
          </a:bodyPr>
          <a:lstStyle/>
          <a:p>
            <a:pPr>
              <a:defRPr sz="950" b="1">
                <a:solidFill>
                  <a:srgbClr val="1E3A8A"/>
                </a:solidFill>
              </a:defRPr>
            </a:pPr>
            <a:r>
              <a:t>Food Diverted (Metric Tons)</a:t>
            </a:r>
          </a:p>
        </p:txBody>
      </p:sp>
      <p:sp>
        <p:nvSpPr>
          <p:cNvPr id="9" name="Rectangle 8"/>
          <p:cNvSpPr/>
          <p:nvPr/>
        </p:nvSpPr>
        <p:spPr>
          <a:xfrm>
            <a:off x="8961120" y="2743200"/>
            <a:ext cx="384048" cy="7315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555480" y="2286000"/>
            <a:ext cx="384048" cy="1188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149840" y="2468879"/>
            <a:ext cx="384048" cy="10058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744200" y="2011679"/>
            <a:ext cx="384048" cy="14630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0" y="3931920"/>
            <a:ext cx="2377440" cy="365760"/>
          </a:xfrm>
          <a:prstGeom prst="rect">
            <a:avLst/>
          </a:prstGeom>
          <a:noFill/>
        </p:spPr>
        <p:txBody>
          <a:bodyPr wrap="none">
            <a:spAutoFit/>
          </a:bodyPr>
          <a:lstStyle/>
          <a:p>
            <a:pPr>
              <a:defRPr sz="950" b="1">
                <a:solidFill>
                  <a:srgbClr val="1E3A8A"/>
                </a:solidFill>
              </a:defRPr>
            </a:pPr>
            <a:r>
              <a:t>Net Operational Efficiency</a:t>
            </a:r>
          </a:p>
        </p:txBody>
      </p:sp>
      <p:sp>
        <p:nvSpPr>
          <p:cNvPr id="14" name="Rectangle 13"/>
          <p:cNvSpPr/>
          <p:nvPr/>
        </p:nvSpPr>
        <p:spPr>
          <a:xfrm>
            <a:off x="8961120" y="4572000"/>
            <a:ext cx="384048" cy="109728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555480" y="5029200"/>
            <a:ext cx="384048" cy="64008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149840" y="4389120"/>
            <a:ext cx="384048" cy="128016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744200" y="4297680"/>
            <a:ext cx="384048" cy="13716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686800" y="5303520"/>
            <a:ext cx="4114800" cy="201168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731520"/>
            <a:ext cx="10698480" cy="2560320"/>
          </a:xfrm>
          <a:prstGeom prst="roundRect">
            <a:avLst/>
          </a:prstGeom>
          <a:solidFill>
            <a:srgbClr val="E0F2FE"/>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defRPr sz="1600" b="1">
                <a:solidFill>
                  <a:srgbClr val="1E3A8A"/>
                </a:solidFill>
                <a:latin typeface="Segoe UI"/>
              </a:defRPr>
            </a:pPr>
            <a:r>
              <a:t>🔒 Zero-Trust Food Rescue Architecture</a:t>
            </a:r>
          </a:p>
          <a:p>
            <a:pPr>
              <a:spcBef>
                <a:spcPts val="400"/>
              </a:spcBef>
              <a:defRPr sz="1050">
                <a:solidFill>
                  <a:srgbClr val="0F172A"/>
                </a:solidFill>
                <a:latin typeface="Segoe UI"/>
              </a:defRPr>
            </a:pPr>
            <a:r>
              <a:t>Autonomous AI coordination must never jeopardize donor privacy, shelter dignity, or food safety. FoodLink Agent combines cryptographic Zero-IDOR isolation with deterministic human-in-the-loop escalation boundaries.</a:t>
            </a:r>
          </a:p>
        </p:txBody>
      </p:sp>
      <p:sp>
        <p:nvSpPr>
          <p:cNvPr id="5" name="TextBox 4"/>
          <p:cNvSpPr txBox="1"/>
          <p:nvPr/>
        </p:nvSpPr>
        <p:spPr>
          <a:xfrm>
            <a:off x="731520" y="3474720"/>
            <a:ext cx="5486400" cy="548640"/>
          </a:xfrm>
          <a:prstGeom prst="rect">
            <a:avLst/>
          </a:prstGeom>
          <a:noFill/>
        </p:spPr>
        <p:txBody>
          <a:bodyPr wrap="none">
            <a:spAutoFit/>
          </a:bodyPr>
          <a:lstStyle/>
          <a:p>
            <a:pPr>
              <a:defRPr sz="2000" b="1">
                <a:solidFill>
                  <a:srgbClr val="1E3A8A"/>
                </a:solidFill>
                <a:latin typeface="Segoe UI"/>
              </a:defRPr>
            </a:pPr>
            <a:r>
              <a:t>The Security and Ethical AI Use</a:t>
            </a:r>
          </a:p>
        </p:txBody>
      </p:sp>
      <p:sp>
        <p:nvSpPr>
          <p:cNvPr id="6" name="Oval 5"/>
          <p:cNvSpPr/>
          <p:nvPr/>
        </p:nvSpPr>
        <p:spPr>
          <a:xfrm>
            <a:off x="731520" y="4114800"/>
            <a:ext cx="457200" cy="45720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Segoe UI"/>
              </a:defRPr>
            </a:pPr>
            <a:r>
              <a:t>01</a:t>
            </a:r>
          </a:p>
        </p:txBody>
      </p:sp>
      <p:sp>
        <p:nvSpPr>
          <p:cNvPr id="7" name="TextBox 6"/>
          <p:cNvSpPr txBox="1"/>
          <p:nvPr/>
        </p:nvSpPr>
        <p:spPr>
          <a:xfrm>
            <a:off x="1280160" y="4069080"/>
            <a:ext cx="4572000" cy="822960"/>
          </a:xfrm>
          <a:prstGeom prst="rect">
            <a:avLst/>
          </a:prstGeom>
          <a:noFill/>
        </p:spPr>
        <p:txBody>
          <a:bodyPr wrap="square">
            <a:spAutoFit/>
          </a:bodyPr>
          <a:lstStyle/>
          <a:p>
            <a:pPr>
              <a:defRPr sz="1100" b="1">
                <a:solidFill>
                  <a:srgbClr val="1E3A8A"/>
                </a:solidFill>
                <a:latin typeface="Segoe UI"/>
              </a:defRPr>
            </a:pPr>
            <a:r>
              <a:t>Zero-IDOR Encryption Standards</a:t>
            </a:r>
          </a:p>
          <a:p>
            <a:pPr>
              <a:defRPr sz="919">
                <a:solidFill>
                  <a:srgbClr val="64748B"/>
                </a:solidFill>
                <a:latin typeface="Segoe UI"/>
              </a:defRPr>
            </a:pPr>
            <a:r>
              <a:t>Salted SHA-256 tokens mask donor phone numbers and coordinates. No sequential database IDs exposed.</a:t>
            </a:r>
          </a:p>
        </p:txBody>
      </p:sp>
      <p:sp>
        <p:nvSpPr>
          <p:cNvPr id="8" name="Oval 7"/>
          <p:cNvSpPr/>
          <p:nvPr/>
        </p:nvSpPr>
        <p:spPr>
          <a:xfrm>
            <a:off x="6217920" y="4114800"/>
            <a:ext cx="457200" cy="45720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Segoe UI"/>
              </a:defRPr>
            </a:pPr>
            <a:r>
              <a:t>02</a:t>
            </a:r>
          </a:p>
        </p:txBody>
      </p:sp>
      <p:sp>
        <p:nvSpPr>
          <p:cNvPr id="9" name="TextBox 8"/>
          <p:cNvSpPr txBox="1"/>
          <p:nvPr/>
        </p:nvSpPr>
        <p:spPr>
          <a:xfrm>
            <a:off x="6766560" y="4069080"/>
            <a:ext cx="4572000" cy="822960"/>
          </a:xfrm>
          <a:prstGeom prst="rect">
            <a:avLst/>
          </a:prstGeom>
          <a:noFill/>
        </p:spPr>
        <p:txBody>
          <a:bodyPr wrap="square">
            <a:spAutoFit/>
          </a:bodyPr>
          <a:lstStyle/>
          <a:p>
            <a:pPr>
              <a:defRPr sz="1100" b="1">
                <a:solidFill>
                  <a:srgbClr val="1E3A8A"/>
                </a:solidFill>
                <a:latin typeface="Segoe UI"/>
              </a:defRPr>
            </a:pPr>
            <a:r>
              <a:t>Dual Anomaly &amp; Fraud Detection</a:t>
            </a:r>
          </a:p>
          <a:p>
            <a:pPr>
              <a:defRPr sz="919">
                <a:solidFill>
                  <a:srgbClr val="64748B"/>
                </a:solidFill>
                <a:latin typeface="Segoe UI"/>
              </a:defRPr>
            </a:pPr>
            <a:r>
              <a:t>Isolation Forest flags fake donations, bot spam velocity, and unrealistic perishability claims before dispatch.</a:t>
            </a:r>
          </a:p>
        </p:txBody>
      </p:sp>
      <p:sp>
        <p:nvSpPr>
          <p:cNvPr id="10" name="Oval 9"/>
          <p:cNvSpPr/>
          <p:nvPr/>
        </p:nvSpPr>
        <p:spPr>
          <a:xfrm>
            <a:off x="731520" y="5303520"/>
            <a:ext cx="457200" cy="45720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Segoe UI"/>
              </a:defRPr>
            </a:pPr>
            <a:r>
              <a:t>03</a:t>
            </a:r>
          </a:p>
        </p:txBody>
      </p:sp>
      <p:sp>
        <p:nvSpPr>
          <p:cNvPr id="11" name="TextBox 10"/>
          <p:cNvSpPr txBox="1"/>
          <p:nvPr/>
        </p:nvSpPr>
        <p:spPr>
          <a:xfrm>
            <a:off x="1280160" y="5257800"/>
            <a:ext cx="4572000" cy="822960"/>
          </a:xfrm>
          <a:prstGeom prst="rect">
            <a:avLst/>
          </a:prstGeom>
          <a:noFill/>
        </p:spPr>
        <p:txBody>
          <a:bodyPr wrap="square">
            <a:spAutoFit/>
          </a:bodyPr>
          <a:lstStyle/>
          <a:p>
            <a:pPr>
              <a:defRPr sz="1100" b="1">
                <a:solidFill>
                  <a:srgbClr val="1E3A8A"/>
                </a:solidFill>
                <a:latin typeface="Segoe UI"/>
              </a:defRPr>
            </a:pPr>
            <a:r>
              <a:t>Deterministic Human Escalation</a:t>
            </a:r>
          </a:p>
          <a:p>
            <a:pPr>
              <a:defRPr sz="919">
                <a:solidFill>
                  <a:srgbClr val="64748B"/>
                </a:solidFill>
                <a:latin typeface="Segoe UI"/>
              </a:defRPr>
            </a:pPr>
            <a:r>
              <a:t>Mandatory human review triggered if shelf-life drops &lt;60 minutes or temperature exceeds safety danger zone.</a:t>
            </a:r>
          </a:p>
        </p:txBody>
      </p:sp>
      <p:sp>
        <p:nvSpPr>
          <p:cNvPr id="12" name="Oval 11"/>
          <p:cNvSpPr/>
          <p:nvPr/>
        </p:nvSpPr>
        <p:spPr>
          <a:xfrm>
            <a:off x="6217920" y="5303520"/>
            <a:ext cx="457200" cy="45720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Segoe UI"/>
              </a:defRPr>
            </a:pPr>
            <a:r>
              <a:t>04</a:t>
            </a:r>
          </a:p>
        </p:txBody>
      </p:sp>
      <p:sp>
        <p:nvSpPr>
          <p:cNvPr id="13" name="TextBox 12"/>
          <p:cNvSpPr txBox="1"/>
          <p:nvPr/>
        </p:nvSpPr>
        <p:spPr>
          <a:xfrm>
            <a:off x="6766560" y="5257800"/>
            <a:ext cx="4572000" cy="822960"/>
          </a:xfrm>
          <a:prstGeom prst="rect">
            <a:avLst/>
          </a:prstGeom>
          <a:noFill/>
        </p:spPr>
        <p:txBody>
          <a:bodyPr wrap="square">
            <a:spAutoFit/>
          </a:bodyPr>
          <a:lstStyle/>
          <a:p>
            <a:pPr>
              <a:defRPr sz="1100" b="1">
                <a:solidFill>
                  <a:srgbClr val="1E3A8A"/>
                </a:solidFill>
                <a:latin typeface="Segoe UI"/>
              </a:defRPr>
            </a:pPr>
            <a:r>
              <a:t>FSSAI / Regulatory Compliance</a:t>
            </a:r>
          </a:p>
          <a:p>
            <a:pPr>
              <a:defRPr sz="919">
                <a:solidFill>
                  <a:srgbClr val="64748B"/>
                </a:solidFill>
                <a:latin typeface="Segoe UI"/>
              </a:defRPr>
            </a:pPr>
            <a:r>
              <a:t>Strict enforcement of local and national food safety laws for zero-liability non-profit food recovery.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ood_sharing_hands_1792053303740.jpg"/>
          <p:cNvPicPr>
            <a:picLocks noChangeAspect="1"/>
          </p:cNvPicPr>
          <p:nvPr/>
        </p:nvPicPr>
        <p:blipFill>
          <a:blip r:embed="rId2"/>
          <a:stretch>
            <a:fillRect/>
          </a:stretch>
        </p:blipFill>
        <p:spPr>
          <a:xfrm>
            <a:off x="5852160" y="1097280"/>
            <a:ext cx="5669280" cy="4572000"/>
          </a:xfrm>
          <a:prstGeom prst="rect">
            <a:avLst/>
          </a:prstGeom>
        </p:spPr>
      </p:pic>
      <p:sp>
        <p:nvSpPr>
          <p:cNvPr id="4" name="TextBox 3"/>
          <p:cNvSpPr txBox="1"/>
          <p:nvPr/>
        </p:nvSpPr>
        <p:spPr>
          <a:xfrm>
            <a:off x="914400" y="1371600"/>
            <a:ext cx="4754880" cy="4389120"/>
          </a:xfrm>
          <a:prstGeom prst="rect">
            <a:avLst/>
          </a:prstGeom>
          <a:noFill/>
        </p:spPr>
        <p:txBody>
          <a:bodyPr wrap="square">
            <a:spAutoFit/>
          </a:bodyPr>
          <a:lstStyle/>
          <a:p>
            <a:pPr>
              <a:defRPr sz="1200" b="1">
                <a:solidFill>
                  <a:srgbClr val="0EA5E9"/>
                </a:solidFill>
                <a:latin typeface="Segoe UI"/>
              </a:defRPr>
            </a:pPr>
            <a:r>
              <a:t>🌱 ZERO-WASTE COMMUNITY RESCUE</a:t>
            </a:r>
          </a:p>
          <a:p>
            <a:pPr>
              <a:spcBef>
                <a:spcPts val="800"/>
              </a:spcBef>
              <a:defRPr sz="4800" b="1">
                <a:solidFill>
                  <a:srgbClr val="1E3A8A"/>
                </a:solidFill>
                <a:latin typeface="Segoe UI"/>
              </a:defRPr>
            </a:pPr>
            <a:r>
              <a:t>Thank You!</a:t>
            </a:r>
          </a:p>
          <a:p>
            <a:pPr>
              <a:spcBef>
                <a:spcPts val="800"/>
              </a:spcBef>
              <a:defRPr sz="1500" b="1">
                <a:solidFill>
                  <a:srgbClr val="0EA5E9"/>
                </a:solidFill>
                <a:latin typeface="Segoe UI"/>
              </a:defRPr>
            </a:pPr>
            <a:r>
              <a:t>Start small. Measure impact. Scale intelligently.</a:t>
            </a:r>
          </a:p>
          <a:p>
            <a:br/>
            <a:pPr>
              <a:spcBef>
                <a:spcPts val="1000"/>
              </a:spcBef>
              <a:defRPr sz="1100">
                <a:solidFill>
                  <a:srgbClr val="0F172A"/>
                </a:solidFill>
                <a:latin typeface="Segoe UI"/>
              </a:defRPr>
            </a:pPr>
            <a:r>
              <a:t>Presenter: Bhumeshwari Bisen</a:t>
            </a:r>
            <a:br/>
            <a:r>
              <a:t>Position: Machine Learning &amp; Applied AI Intern</a:t>
            </a:r>
            <a:br/>
            <a:r>
              <a:t>Institution: Indore Institute of Science &amp; Technology (IIST)</a:t>
            </a:r>
            <a:br/>
            <a:r>
              <a:t>Project: FoodLink Agent (Autonomous Bedrock AgentCore)</a:t>
            </a:r>
            <a:br/>
            <a:r>
              <a:t>Live URL: https://tender-berries-chew.loca.lt</a:t>
            </a:r>
            <a:br/>
            <a:r>
              <a:t>GitHub: https://github.com/bhumibisen12/food-rescue-coordination-agent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